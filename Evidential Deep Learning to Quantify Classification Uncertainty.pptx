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8798f973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8798f973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 name="Shape 63"/>
        <p:cNvGrpSpPr/>
        <p:nvPr/>
      </p:nvGrpSpPr>
      <p:grpSpPr>
        <a:xfrm>
          <a:off x="0" y="0"/>
          <a:ext cx="0" cy="0"/>
          <a:chOff x="0" y="0"/>
          <a:chExt cx="0" cy="0"/>
        </a:xfrm>
      </p:grpSpPr>
      <p:sp>
        <p:nvSpPr>
          <p:cNvPr id="64" name="Google Shape;64;g8798f9738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8798f9738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8798f9738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8798f9738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g8798f9738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8798f9738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g8798f9738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8798f9738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g8798f9738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8798f9738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g8798f9738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8798f9738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g8798f9738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8798f9738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g8798f9738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8798f9738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g8798f9738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8798f9738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714700"/>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sz="4300"/>
          </a:p>
          <a:p>
            <a:pPr indent="0" lvl="0" marL="0" rtl="0" algn="ctr">
              <a:spcBef>
                <a:spcPts val="0"/>
              </a:spcBef>
              <a:spcAft>
                <a:spcPts val="0"/>
              </a:spcAft>
              <a:buNone/>
            </a:pPr>
            <a:r>
              <a:t/>
            </a:r>
            <a:endParaRPr/>
          </a:p>
          <a:p>
            <a:pPr indent="0" lvl="0" marL="0" rtl="0" algn="l">
              <a:spcBef>
                <a:spcPts val="0"/>
              </a:spcBef>
              <a:spcAft>
                <a:spcPts val="0"/>
              </a:spcAft>
              <a:buNone/>
            </a:pPr>
            <a:r>
              <a:t/>
            </a:r>
            <a:endParaRPr/>
          </a:p>
        </p:txBody>
      </p:sp>
      <p:sp>
        <p:nvSpPr>
          <p:cNvPr id="55" name="Google Shape;55;p13"/>
          <p:cNvSpPr txBox="1"/>
          <p:nvPr>
            <p:ph idx="1" type="subTitle"/>
          </p:nvPr>
        </p:nvSpPr>
        <p:spPr>
          <a:xfrm>
            <a:off x="-45025" y="317750"/>
            <a:ext cx="9144000" cy="2049000"/>
          </a:xfrm>
          <a:prstGeom prst="rect">
            <a:avLst/>
          </a:prstGeom>
        </p:spPr>
        <p:txBody>
          <a:bodyPr anchorCtr="0" anchor="t" bIns="91425" lIns="91425" spcFirstLastPara="1" rIns="91425" wrap="square" tIns="91425">
            <a:noAutofit/>
          </a:bodyPr>
          <a:lstStyle/>
          <a:p>
            <a:pPr indent="0" lvl="0" marL="457200" rtl="0" algn="ctr">
              <a:spcBef>
                <a:spcPts val="0"/>
              </a:spcBef>
              <a:spcAft>
                <a:spcPts val="0"/>
              </a:spcAft>
              <a:buNone/>
            </a:pPr>
            <a:r>
              <a:rPr lang="en" sz="4300">
                <a:solidFill>
                  <a:schemeClr val="dk1"/>
                </a:solidFill>
              </a:rPr>
              <a:t>Evidential Deep Learning to Quantify Classification Uncertainty</a:t>
            </a:r>
            <a:endParaRPr sz="4300">
              <a:solidFill>
                <a:schemeClr val="dk1"/>
              </a:solidFill>
            </a:endParaRPr>
          </a:p>
          <a:p>
            <a:pPr indent="0" lvl="0" marL="457200" rtl="0" algn="l">
              <a:spcBef>
                <a:spcPts val="0"/>
              </a:spcBef>
              <a:spcAft>
                <a:spcPts val="0"/>
              </a:spcAft>
              <a:buNone/>
            </a:pPr>
            <a:r>
              <a:t/>
            </a:r>
            <a:endParaRPr sz="3000"/>
          </a:p>
          <a:p>
            <a:pPr indent="0" lvl="0" marL="457200" rtl="0" algn="l">
              <a:spcBef>
                <a:spcPts val="0"/>
              </a:spcBef>
              <a:spcAft>
                <a:spcPts val="0"/>
              </a:spcAft>
              <a:buNone/>
            </a:pPr>
            <a:r>
              <a:t/>
            </a:r>
            <a:endParaRPr sz="3000"/>
          </a:p>
        </p:txBody>
      </p:sp>
      <p:sp>
        <p:nvSpPr>
          <p:cNvPr id="56" name="Google Shape;56;p13"/>
          <p:cNvSpPr txBox="1"/>
          <p:nvPr/>
        </p:nvSpPr>
        <p:spPr>
          <a:xfrm>
            <a:off x="311700" y="2366750"/>
            <a:ext cx="7713000" cy="855900"/>
          </a:xfrm>
          <a:prstGeom prst="rect">
            <a:avLst/>
          </a:prstGeom>
          <a:noFill/>
          <a:ln>
            <a:noFill/>
          </a:ln>
        </p:spPr>
        <p:txBody>
          <a:bodyPr anchorCtr="0" anchor="t" bIns="91425" lIns="91425" spcFirstLastPara="1" rIns="91425" wrap="square" tIns="91425">
            <a:noAutofit/>
          </a:bodyPr>
          <a:lstStyle/>
          <a:p>
            <a:pPr indent="-425450" lvl="0" marL="457200" rtl="0" algn="l">
              <a:spcBef>
                <a:spcPts val="0"/>
              </a:spcBef>
              <a:spcAft>
                <a:spcPts val="0"/>
              </a:spcAft>
              <a:buClr>
                <a:schemeClr val="dk2"/>
              </a:buClr>
              <a:buSzPts val="3100"/>
              <a:buChar char="-"/>
            </a:pPr>
            <a:r>
              <a:rPr lang="en" sz="3100">
                <a:solidFill>
                  <a:schemeClr val="dk2"/>
                </a:solidFill>
              </a:rPr>
              <a:t>The problem</a:t>
            </a:r>
            <a:endParaRPr sz="3100">
              <a:solidFill>
                <a:schemeClr val="dk2"/>
              </a:solidFill>
            </a:endParaRPr>
          </a:p>
          <a:p>
            <a:pPr indent="-425450" lvl="0" marL="457200" rtl="0" algn="l">
              <a:spcBef>
                <a:spcPts val="0"/>
              </a:spcBef>
              <a:spcAft>
                <a:spcPts val="0"/>
              </a:spcAft>
              <a:buClr>
                <a:schemeClr val="dk2"/>
              </a:buClr>
              <a:buSzPts val="3100"/>
              <a:buChar char="-"/>
            </a:pPr>
            <a:r>
              <a:rPr lang="en" sz="3100">
                <a:solidFill>
                  <a:schemeClr val="dk2"/>
                </a:solidFill>
              </a:rPr>
              <a:t>The solution</a:t>
            </a:r>
            <a:endParaRPr sz="3100">
              <a:solidFill>
                <a:schemeClr val="dk2"/>
              </a:solidFill>
            </a:endParaRPr>
          </a:p>
          <a:p>
            <a:pPr indent="-425450" lvl="0" marL="457200" rtl="0" algn="l">
              <a:spcBef>
                <a:spcPts val="0"/>
              </a:spcBef>
              <a:spcAft>
                <a:spcPts val="0"/>
              </a:spcAft>
              <a:buClr>
                <a:schemeClr val="dk2"/>
              </a:buClr>
              <a:buSzPts val="3100"/>
              <a:buChar char="-"/>
            </a:pPr>
            <a:r>
              <a:rPr lang="en" sz="3100">
                <a:solidFill>
                  <a:schemeClr val="dk2"/>
                </a:solidFill>
              </a:rPr>
              <a:t>Improving on the solution using AutoML</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p</a:t>
            </a:r>
            <a:r>
              <a:rPr lang="en" sz="4000"/>
              <a:t>roblem</a:t>
            </a:r>
            <a:endParaRPr sz="4000"/>
          </a:p>
        </p:txBody>
      </p:sp>
      <p:sp>
        <p:nvSpPr>
          <p:cNvPr id="62" name="Google Shape;62;p14"/>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Many predictors (including most neural net architectures) output probabilities without stating the associated uncertainty / confidence of the prediction. </a:t>
            </a:r>
            <a:endParaRPr sz="2600"/>
          </a:p>
          <a:p>
            <a:pPr indent="0" lvl="0" marL="0" rtl="0" algn="l">
              <a:spcBef>
                <a:spcPts val="0"/>
              </a:spcBef>
              <a:spcAft>
                <a:spcPts val="0"/>
              </a:spcAft>
              <a:buNone/>
            </a:pPr>
            <a:r>
              <a:rPr lang="en" sz="2600"/>
              <a:t>Knowing the degree of uncertainty is advantageous, since it allows the user to decide whether or not to accept a prediction. </a:t>
            </a:r>
            <a:endParaRPr sz="2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 name="Shape 66"/>
        <p:cNvGrpSpPr/>
        <p:nvPr/>
      </p:nvGrpSpPr>
      <p:grpSpPr>
        <a:xfrm>
          <a:off x="0" y="0"/>
          <a:ext cx="0" cy="0"/>
          <a:chOff x="0" y="0"/>
          <a:chExt cx="0" cy="0"/>
        </a:xfrm>
      </p:grpSpPr>
      <p:sp>
        <p:nvSpPr>
          <p:cNvPr id="67" name="Google Shape;67;p15"/>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problem</a:t>
            </a:r>
            <a:endParaRPr sz="4000"/>
          </a:p>
        </p:txBody>
      </p:sp>
      <p:sp>
        <p:nvSpPr>
          <p:cNvPr id="68" name="Google Shape;68;p15"/>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Motivating examples for why uncertainty/confidence levels would be helpful:</a:t>
            </a:r>
            <a:endParaRPr sz="2600"/>
          </a:p>
          <a:p>
            <a:pPr indent="-393700" lvl="0" marL="457200" rtl="0" algn="l">
              <a:spcBef>
                <a:spcPts val="0"/>
              </a:spcBef>
              <a:spcAft>
                <a:spcPts val="0"/>
              </a:spcAft>
              <a:buSzPts val="2600"/>
              <a:buAutoNum type="arabicPeriod"/>
            </a:pPr>
            <a:r>
              <a:rPr lang="en" sz="2600"/>
              <a:t>A predictor trained to recognize cats or dogs should be able to report a high degree of uncertainty when shown a frog.</a:t>
            </a:r>
            <a:endParaRPr sz="2600"/>
          </a:p>
          <a:p>
            <a:pPr indent="-393700" lvl="0" marL="457200" rtl="0" algn="l">
              <a:spcBef>
                <a:spcPts val="0"/>
              </a:spcBef>
              <a:spcAft>
                <a:spcPts val="0"/>
              </a:spcAft>
              <a:buSzPts val="2600"/>
              <a:buAutoNum type="arabicPeriod"/>
            </a:pPr>
            <a:r>
              <a:rPr lang="en" sz="2600"/>
              <a:t>In cases where mistakes are costly (initiating chemotherapy, investing in the stock market), users could require high confidence levels before accepting a prediction.</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sp>
        <p:nvSpPr>
          <p:cNvPr id="73" name="Google Shape;73;p16"/>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problem</a:t>
            </a:r>
            <a:endParaRPr sz="4000"/>
          </a:p>
        </p:txBody>
      </p:sp>
      <p:sp>
        <p:nvSpPr>
          <p:cNvPr id="74" name="Google Shape;74;p16"/>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In the paper, the case being explored is that of digit classification using the MNIST and CIFAR datasets. A classical architecture such as LeNet, which employs a softmax output layer, outputs a 10-element vector of probabilities, summing to 1, corresponding to the distribution of probabilities across the classes. The class that has the highest probability is chosen as the output of the model.</a:t>
            </a:r>
            <a:endParaRPr sz="2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17"/>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problem</a:t>
            </a:r>
            <a:endParaRPr sz="4000"/>
          </a:p>
        </p:txBody>
      </p:sp>
      <p:sp>
        <p:nvSpPr>
          <p:cNvPr id="80" name="Google Shape;80;p17"/>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50"/>
              <a:t>The main issue with softmax is that the model does not output an uncertainty/confidence level. Also, it would be difficult to estimate uncertainty using entropy </a:t>
            </a:r>
            <a:r>
              <a:rPr lang="en" sz="2450"/>
              <a:t>(how spread out the probability mass is among the 10 classes) since softmax exponentiates its values before normalizing them. While this has many nice properties (monotonic w.r.t original values, non negative, good for differentiation), it also means that the outputs are different than the “true” underlying probabilities, and so, are not that well suited for determining confidence or entropy.</a:t>
            </a:r>
            <a:endParaRPr sz="24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sp>
        <p:nvSpPr>
          <p:cNvPr id="85" name="Google Shape;85;p18"/>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solution</a:t>
            </a:r>
            <a:endParaRPr sz="4000"/>
          </a:p>
        </p:txBody>
      </p:sp>
      <p:sp>
        <p:nvSpPr>
          <p:cNvPr id="86" name="Google Shape;86;p18"/>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sz="2700"/>
              <a:t>The Dirichlet distribution is used instead of softmax.</a:t>
            </a:r>
            <a:endParaRPr sz="2700"/>
          </a:p>
          <a:p>
            <a:pPr indent="0" lvl="0" marL="457200" rtl="0" algn="l">
              <a:spcBef>
                <a:spcPts val="0"/>
              </a:spcBef>
              <a:spcAft>
                <a:spcPts val="0"/>
              </a:spcAft>
              <a:buNone/>
            </a:pPr>
            <a:r>
              <a:rPr lang="en" sz="2700"/>
              <a:t>Specifically, softmax is replaced with ReLU (to generate nonnegative values), and the probability of each class becomes the normalized value of ReLU_output+1 (corresponding to what the probability of a value is under the Dirichlet distribution).</a:t>
            </a:r>
            <a:endParaRPr sz="2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0" name="Shape 90"/>
        <p:cNvGrpSpPr/>
        <p:nvPr/>
      </p:nvGrpSpPr>
      <p:grpSpPr>
        <a:xfrm>
          <a:off x="0" y="0"/>
          <a:ext cx="0" cy="0"/>
          <a:chOff x="0" y="0"/>
          <a:chExt cx="0" cy="0"/>
        </a:xfrm>
      </p:grpSpPr>
      <p:sp>
        <p:nvSpPr>
          <p:cNvPr id="91" name="Google Shape;91;p19"/>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solution</a:t>
            </a:r>
            <a:endParaRPr sz="4000"/>
          </a:p>
        </p:txBody>
      </p:sp>
      <p:sp>
        <p:nvSpPr>
          <p:cNvPr id="92" name="Google Shape;92;p19"/>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Rather than using cross entropy as the loss function, the authors consider three </a:t>
            </a:r>
            <a:r>
              <a:rPr lang="en" sz="2700"/>
              <a:t>possible loss functions (together with a KL divergence regularization term). </a:t>
            </a:r>
            <a:endParaRPr sz="2700"/>
          </a:p>
          <a:p>
            <a:pPr indent="0" lvl="0" marL="0" rtl="0" algn="l">
              <a:spcBef>
                <a:spcPts val="0"/>
              </a:spcBef>
              <a:spcAft>
                <a:spcPts val="0"/>
              </a:spcAft>
              <a:buNone/>
            </a:pPr>
            <a:r>
              <a:rPr lang="en" sz="2700"/>
              <a:t>In their experience using the sum of squares loss function performs best, by providing the lowest amount of evidence to incorrect classes.</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20"/>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The solution</a:t>
            </a:r>
            <a:endParaRPr sz="4000"/>
          </a:p>
        </p:txBody>
      </p:sp>
      <p:sp>
        <p:nvSpPr>
          <p:cNvPr id="98" name="Google Shape;98;p20"/>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Finally, now that the Dirichlet distribution is being used, the overall uncertainty of a sample’s prediction can be calculated as:</a:t>
            </a:r>
            <a:endParaRPr sz="2700"/>
          </a:p>
          <a:p>
            <a:pPr indent="0" lvl="0" marL="0" rtl="0" algn="l">
              <a:spcBef>
                <a:spcPts val="0"/>
              </a:spcBef>
              <a:spcAft>
                <a:spcPts val="0"/>
              </a:spcAft>
              <a:buNone/>
            </a:pPr>
            <a:r>
              <a:rPr i="1" lang="en" sz="2700"/>
              <a:t>number of classes / (sum of ReLU outputs + number of classes) </a:t>
            </a:r>
            <a:endParaRPr i="1" sz="2700"/>
          </a:p>
          <a:p>
            <a:pPr indent="0" lvl="0" marL="0" rtl="0" algn="l">
              <a:spcBef>
                <a:spcPts val="0"/>
              </a:spcBef>
              <a:spcAft>
                <a:spcPts val="0"/>
              </a:spcAft>
              <a:buNone/>
            </a:pPr>
            <a:r>
              <a:t/>
            </a:r>
            <a:endParaRPr sz="2700"/>
          </a:p>
          <a:p>
            <a:pPr indent="0" lvl="0" marL="0" rtl="0" algn="l">
              <a:spcBef>
                <a:spcPts val="0"/>
              </a:spcBef>
              <a:spcAft>
                <a:spcPts val="0"/>
              </a:spcAft>
              <a:buNone/>
            </a:pPr>
            <a:r>
              <a:rPr lang="en" sz="2700"/>
              <a:t>In the case of digit classification the number of classes is 10.</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21"/>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700"/>
              <a:t>Improving on the solution using AutoML</a:t>
            </a:r>
            <a:endParaRPr sz="3700"/>
          </a:p>
        </p:txBody>
      </p:sp>
      <p:sp>
        <p:nvSpPr>
          <p:cNvPr id="104" name="Google Shape;104;p21"/>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AutoML could set the uncertainty threshold on a per class basis, based on the considerations of the specific problem being addressed. </a:t>
            </a:r>
            <a:r>
              <a:rPr lang="en" sz="2700"/>
              <a:t>For example, some problems are more concerned with maximizing recall (e.g a system that does an initial scan of patients to determine who should be sent to the doctor for a more thorough checkup), while other are concerned with minimizing false positives (automatically sending </a:t>
            </a:r>
            <a:endParaRPr sz="2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22"/>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700"/>
              <a:t>Improving on the solution using AutoML</a:t>
            </a:r>
            <a:endParaRPr sz="3700"/>
          </a:p>
        </p:txBody>
      </p:sp>
      <p:sp>
        <p:nvSpPr>
          <p:cNvPr id="110" name="Google Shape;110;p22"/>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wedding invitations based on Facebook interactions), etc.</a:t>
            </a:r>
            <a:endParaRPr sz="2700"/>
          </a:p>
          <a:p>
            <a:pPr indent="0" lvl="0" marL="0" rtl="0" algn="l">
              <a:spcBef>
                <a:spcPts val="0"/>
              </a:spcBef>
              <a:spcAft>
                <a:spcPts val="0"/>
              </a:spcAft>
              <a:buNone/>
            </a:pPr>
            <a:r>
              <a:rPr lang="en" sz="2700"/>
              <a:t> </a:t>
            </a:r>
            <a:endParaRPr sz="2700"/>
          </a:p>
          <a:p>
            <a:pPr indent="0" lvl="0" marL="0" rtl="0" algn="l">
              <a:spcBef>
                <a:spcPts val="0"/>
              </a:spcBef>
              <a:spcAft>
                <a:spcPts val="0"/>
              </a:spcAft>
              <a:buNone/>
            </a:pPr>
            <a:r>
              <a:rPr lang="en" sz="2700"/>
              <a:t>If the user indicated that they want the algorithm to maximize recall, the system would set the uncertainty threshold to 0 for the “positive” class. </a:t>
            </a:r>
            <a:endParaRPr sz="2700"/>
          </a:p>
          <a:p>
            <a:pPr indent="0" lvl="0" marL="0" rtl="0" algn="l">
              <a:spcBef>
                <a:spcPts val="0"/>
              </a:spcBef>
              <a:spcAft>
                <a:spcPts val="0"/>
              </a:spcAft>
              <a:buClr>
                <a:schemeClr val="dk1"/>
              </a:buClr>
              <a:buSzPts val="1100"/>
              <a:buFont typeface="Arial"/>
              <a:buNone/>
            </a:pPr>
            <a:r>
              <a:rPr lang="en" sz="2700"/>
              <a:t>To minimize false positives, the system would place a very high threshold of uncertainty for the “positive” class.</a:t>
            </a:r>
            <a:endParaRPr sz="2700"/>
          </a:p>
          <a:p>
            <a:pPr indent="0" lvl="0" marL="0" rtl="0" algn="l">
              <a:spcBef>
                <a:spcPts val="0"/>
              </a:spcBef>
              <a:spcAft>
                <a:spcPts val="0"/>
              </a:spcAft>
              <a:buClr>
                <a:schemeClr val="dk1"/>
              </a:buClr>
              <a:buSzPts val="1100"/>
              <a:buFont typeface="Arial"/>
              <a:buNone/>
            </a:pPr>
            <a:r>
              <a:t/>
            </a:r>
            <a:endParaRPr sz="2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23"/>
          <p:cNvSpPr txBox="1"/>
          <p:nvPr>
            <p:ph type="ctrTitle"/>
          </p:nvPr>
        </p:nvSpPr>
        <p:spPr>
          <a:xfrm>
            <a:off x="311700" y="592175"/>
            <a:ext cx="8520600" cy="57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700"/>
              <a:t>Improving on the solution using AutoML</a:t>
            </a:r>
            <a:endParaRPr sz="3700"/>
          </a:p>
        </p:txBody>
      </p:sp>
      <p:sp>
        <p:nvSpPr>
          <p:cNvPr id="116" name="Google Shape;116;p23"/>
          <p:cNvSpPr txBox="1"/>
          <p:nvPr>
            <p:ph idx="1" type="subTitle"/>
          </p:nvPr>
        </p:nvSpPr>
        <p:spPr>
          <a:xfrm>
            <a:off x="311700" y="1245275"/>
            <a:ext cx="8520600" cy="23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I assume this isn’t the intention of the question, but for the sake of completeness: AutoML is often used to adjust the hyperparameters of an existing algorithm to a new dataset / problem. In our case, the loss function being used is an important hyperparameter, that could be optimized for the problem at hand. AutoML could try each of the three loss functions mentioned in the paper and choose the one that performs best on the provided dataset.</a:t>
            </a:r>
            <a:endParaRPr sz="2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